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030a99a00064687" /><Relationship Type="http://schemas.openxmlformats.org/officeDocument/2006/relationships/extended-properties" Target="/docProps/app.xml" Id="Rb25b10209ba9444e" /><Relationship Type="http://schemas.openxmlformats.org/officeDocument/2006/relationships/officeDocument" Target="/ppt/presentation.xml" Id="R0eebdb0efa4f424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9f93098485a475c"/>
  </p:sldMasterIdLst>
  <p:notesMasterIdLst>
    <p:notesMasterId xmlns:r="http://schemas.openxmlformats.org/officeDocument/2006/relationships" r:id="R40d52be7327e4863"/>
  </p:notesMasterIdLst>
  <p:sldIdLst>
    <p:sldId xmlns:r="http://schemas.openxmlformats.org/officeDocument/2006/relationships" id="256" r:id="R2a070faf101f4c16"/>
    <p:sldId xmlns:r="http://schemas.openxmlformats.org/officeDocument/2006/relationships" id="257" r:id="Rd373b5853b5441ee"/>
    <p:sldId xmlns:r="http://schemas.openxmlformats.org/officeDocument/2006/relationships" id="258" r:id="R004b0753ff2d4aec"/>
    <p:sldId xmlns:r="http://schemas.openxmlformats.org/officeDocument/2006/relationships" id="259" r:id="Rf8b9fad50c564a28"/>
    <p:sldId xmlns:r="http://schemas.openxmlformats.org/officeDocument/2006/relationships" id="260" r:id="Rd0417365b1af4ceb"/>
    <p:sldId xmlns:r="http://schemas.openxmlformats.org/officeDocument/2006/relationships" id="261" r:id="Ra9e42a096a714083"/>
    <p:sldId xmlns:r="http://schemas.openxmlformats.org/officeDocument/2006/relationships" id="262" r:id="R344e21f88ff5441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037a78952144fad" /><Relationship Type="http://schemas.openxmlformats.org/officeDocument/2006/relationships/slideMaster" Target="/ppt/slideMasters/slideMaster1.xml" Id="Ra9f93098485a475c" /><Relationship Type="http://schemas.openxmlformats.org/officeDocument/2006/relationships/notesMaster" Target="/ppt/notesMasters/notesMaster1.xml" Id="R40d52be7327e4863" /><Relationship Type="http://schemas.openxmlformats.org/officeDocument/2006/relationships/presProps" Target="/ppt/presProps.xml" Id="Rc8a18efece7042f5" /><Relationship Type="http://schemas.openxmlformats.org/officeDocument/2006/relationships/tableStyles" Target="/ppt/tableStyles.xml" Id="Rb660caea183e482f" /><Relationship Type="http://schemas.openxmlformats.org/officeDocument/2006/relationships/slide" Target="/ppt/slides/slide1.xml" Id="R2a070faf101f4c16" /><Relationship Type="http://schemas.openxmlformats.org/officeDocument/2006/relationships/slide" Target="/ppt/slides/slide2.xml" Id="Rd373b5853b5441ee" /><Relationship Type="http://schemas.openxmlformats.org/officeDocument/2006/relationships/slide" Target="/ppt/slides/slide3.xml" Id="R004b0753ff2d4aec" /><Relationship Type="http://schemas.openxmlformats.org/officeDocument/2006/relationships/slide" Target="/ppt/slides/slide4.xml" Id="Rf8b9fad50c564a28" /><Relationship Type="http://schemas.openxmlformats.org/officeDocument/2006/relationships/slide" Target="/ppt/slides/slide5.xml" Id="Rd0417365b1af4ceb" /><Relationship Type="http://schemas.openxmlformats.org/officeDocument/2006/relationships/slide" Target="/ppt/slides/slide6.xml" Id="Ra9e42a096a714083" /><Relationship Type="http://schemas.openxmlformats.org/officeDocument/2006/relationships/slide" Target="/ppt/slides/slide7.xml" Id="R344e21f88ff5441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4dffae1fdb347d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25b4033d3fb4273" /><Relationship Type="http://schemas.openxmlformats.org/officeDocument/2006/relationships/notesMaster" Target="/ppt/notesMasters/notesMaster1.xml" Id="Rdbcbfb9dc708448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8ab0e02f73346f1" /><Relationship Type="http://schemas.openxmlformats.org/officeDocument/2006/relationships/notesMaster" Target="/ppt/notesMasters/notesMaster1.xml" Id="R9497ef51e6c0493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7c0e561591347fb" /><Relationship Type="http://schemas.openxmlformats.org/officeDocument/2006/relationships/notesMaster" Target="/ppt/notesMasters/notesMaster1.xml" Id="Rbc834e8083114a4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6ab0c04c4c1499e" /><Relationship Type="http://schemas.openxmlformats.org/officeDocument/2006/relationships/notesMaster" Target="/ppt/notesMasters/notesMaster1.xml" Id="R37852e9f6f22410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61e1c5949ac48ae" /><Relationship Type="http://schemas.openxmlformats.org/officeDocument/2006/relationships/notesMaster" Target="/ppt/notesMasters/notesMaster1.xml" Id="Re3c385b7d5f94bc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156200fa33b4c15" /><Relationship Type="http://schemas.openxmlformats.org/officeDocument/2006/relationships/notesMaster" Target="/ppt/notesMasters/notesMaster1.xml" Id="R35601466ffe7496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7e4687ba4f541e3" /><Relationship Type="http://schemas.openxmlformats.org/officeDocument/2006/relationships/notesMaster" Target="/ppt/notesMasters/notesMaster1.xml" Id="Rc61e9006cbba410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大家好，我们的项目是 Landed，面向独立创意工作的阶段协作与托管工具。客户先锁定预算，创作者按阶段交付，验收后领取对应报酬。今天展示的全部是测试资产。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我们先从音乐、设计这类小型创意合作切入。需求方担心先付钱却拿不到作品，创作者担心交完作品迟迟收不到款。Landed 把一笔合作拆成清楚的阶段，让双方先约定交什么、每阶段付多少。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</a:t>
            </a:r>
          </a:p>
          <a:p xmlns:a="http://schemas.openxmlformats.org/drawingml/2006/main">
            <a:r>
              <a:t>产品问题假设，不引用未经核验的市场比例或竞品费率。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比如做一首电子乐，总预算五十个测试 USDC。小样二十，成品三十。客户先把五十锁进合约，接单人在对应阶段提交作品链接和说明。客户实际查看作品后验收，合约释放这一阶段款项，再进入下一阶段。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</a:t>
            </a:r>
          </a:p>
          <a:p xmlns:a="http://schemas.openxmlformats.org/drawingml/2006/main">
            <a:r>
              <a:t>contracts/Landed.sol；2026-10-15 两种链配置下的隔离浏览器回归。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Avalanche 用在资金规则这一层。Fuji 使用测试 AVAX，Landed L1 使用测试 LUSD 支付 Gas，两条链的资金和订单独立。当前两条链都能读取已部署合约。超时领取需要接单人主动调用，有争议时按现有合约处理，不是平台随意改余额。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</a:t>
            </a:r>
          </a:p>
          <a:p xmlns:a="http://schemas.openxmlformats.org/drawingml/2006/main">
            <a:r>
              <a:t>scripts/config.js；2026-10-15 RPC eth_chainId、eth_getCode 与线上只读核验。ICM/x402 本次未复验，不作为核心流程已验证能力。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【切到浏览器，使用已准备好的测试订单】这里先看总预算五十已经锁定。切到小林，在小样阶段填写作品链接和交付说明，选择文件可以计算指纹，但当前不会上传文件。提交后等待钱包与链上确认。再切回 iris，打开作品链接检查内容，然后验收并放款。确认后，小林收到这一阶段的二十个测试 USDC，成品三十进入下一阶段。这里的指纹只能核对文件字节，不能证明作品质量或版权。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</a:t>
            </a:r>
          </a:p>
          <a:p xmlns:a="http://schemas.openxmlformats.org/drawingml/2006/main">
            <a:r>
              <a:t>截图来自本次隔离 Ganache 浏览器回归，不是用户真实钱包交易。现场真实钱包流程需演示者预演；不要忽略钱包警告。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目前公开测试站和代码已经更新，两条链都能读取订单。七项合约测试通过，二十加三十的双角色流程也通过隔离浏览器回归。我们把这些记录和未验证项一起放进仓库，公开链读取不等于真实钱包的完整验收。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</a:t>
            </a:r>
          </a:p>
          <a:p xmlns:a="http://schemas.openxmlformats.org/drawingml/2006/main">
            <a:r>
              <a:t>docs/VERIFICATION-2026-10-15.md；GitHub Pages b5364d0 built；线上6文件逐字节核对。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下一步是实际文件上传、版本反馈和订单内沟通，以及受控的测试 Gas 补助。这些目前还没上线。真实商业支付需要先完成目标市场准入评估，跨境并不自动合规。谢谢大家，欢迎打开 Landed 体验。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</a:t>
            </a:r>
          </a:p>
          <a:p xmlns:a="http://schemas.openxmlformats.org/drawingml/2006/main">
            <a:r>
              <a:t>用户确认本次仅发布静态改进，后台功能延期。法律准入属于独立上线阻断项，本页不作法律意见。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a00ee8255d40b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8ccdf57475473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2c9a5e668040b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fff5d78b5341c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3918a59d3c413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7104c10b2141c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99C0937-4F08-4112-A26F-68371B53C0F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A80AF37-ADFE-4201-B00F-6C46CA55BCE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DB5A336-5886-459C-9D9E-4C75DA17D8C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108A4A6-AB9C-4EF4-B7EE-23AFC945992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8C54617-E844-445D-9A54-C5FADB1D658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1ABC376-F155-48AF-A13E-5D5DEC28977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DCEB1C3-B49C-4E3E-BAC4-C9D52FFD920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F963347-46BB-4D09-BA68-1682C23C435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CBF9B2D-3AAE-430B-8FE5-F5C9CED19C8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B670875-3E96-4EBA-B1E4-0CDD1FD8D93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5b842763a2143ac" /><Relationship Type="http://schemas.openxmlformats.org/officeDocument/2006/relationships/slideLayout" Target="/ppt/slideLayouts/slideLayout1.xml" Id="Rb9fca31eb22b49ea" /><Relationship Type="http://schemas.openxmlformats.org/officeDocument/2006/relationships/slideLayout" Target="/ppt/slideLayouts/slideLayout2.xml" Id="R9abfff32bdef4f32" /><Relationship Type="http://schemas.openxmlformats.org/officeDocument/2006/relationships/slideLayout" Target="/ppt/slideLayouts/slideLayout3.xml" Id="R38ff1a41e21241b3" /><Relationship Type="http://schemas.openxmlformats.org/officeDocument/2006/relationships/slideLayout" Target="/ppt/slideLayouts/slideLayout4.xml" Id="R116937c904024b29" /><Relationship Type="http://schemas.openxmlformats.org/officeDocument/2006/relationships/slideLayout" Target="/ppt/slideLayouts/slideLayout5.xml" Id="R17450e3c9a934d4e" /><Relationship Type="http://schemas.openxmlformats.org/officeDocument/2006/relationships/slideLayout" Target="/ppt/slideLayouts/slideLayout6.xml" Id="Rd201879d0be0485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9fca31eb22b49ea"/>
    <p:sldLayoutId xmlns:r="http://schemas.openxmlformats.org/officeDocument/2006/relationships" id="2147483650" r:id="R9abfff32bdef4f32"/>
    <p:sldLayoutId xmlns:r="http://schemas.openxmlformats.org/officeDocument/2006/relationships" id="2147483651" r:id="R38ff1a41e21241b3"/>
    <p:sldLayoutId xmlns:r="http://schemas.openxmlformats.org/officeDocument/2006/relationships" id="2147483652" r:id="R116937c904024b29"/>
    <p:sldLayoutId xmlns:r="http://schemas.openxmlformats.org/officeDocument/2006/relationships" id="2147483653" r:id="R17450e3c9a934d4e"/>
    <p:sldLayoutId xmlns:r="http://schemas.openxmlformats.org/officeDocument/2006/relationships" id="2147483654" r:id="Rd201879d0be0485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d02113c46c4b6f" /><Relationship Type="http://schemas.openxmlformats.org/officeDocument/2006/relationships/image" Target="/ppt/media/image.png" Id="Rd82284ccc24d4677" /><Relationship Type="http://schemas.openxmlformats.org/officeDocument/2006/relationships/notesSlide" Target="/ppt/notesSlides/notesSlide1.xml" Id="Rfc2cf7cc324a499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2bdb95ddb4420c" /><Relationship Type="http://schemas.openxmlformats.org/officeDocument/2006/relationships/notesSlide" Target="/ppt/notesSlides/notesSlide2.xml" Id="R51fba8adb69641a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41a903271e4ff2" /><Relationship Type="http://schemas.openxmlformats.org/officeDocument/2006/relationships/notesSlide" Target="/ppt/notesSlides/notesSlide3.xml" Id="R86e9bf9a11ed491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56d56ae6234c4b" /><Relationship Type="http://schemas.openxmlformats.org/officeDocument/2006/relationships/notesSlide" Target="/ppt/notesSlides/notesSlide4.xml" Id="R68a4b2b285b3432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7186731a7c41d5" /><Relationship Type="http://schemas.openxmlformats.org/officeDocument/2006/relationships/image" Target="/ppt/media/image2.png" Id="Re176e50655604ead" /><Relationship Type="http://schemas.openxmlformats.org/officeDocument/2006/relationships/notesSlide" Target="/ppt/notesSlides/notesSlide5.xml" Id="Rc4f5fb1401d8416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67424c5fe14f16" /><Relationship Type="http://schemas.openxmlformats.org/officeDocument/2006/relationships/notesSlide" Target="/ppt/notesSlides/notesSlide6.xml" Id="R054377989871483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dac6f7d6b546e0" /><Relationship Type="http://schemas.openxmlformats.org/officeDocument/2006/relationships/notesSlide" Target="/ppt/notesSlides/notesSlide7.xml" Id="Rd3b11e6434e24ad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5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1CDE29-361F-4468-A3FF-04B39DD2083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2284ccc24d4677"/>
          <a:stretch xmlns:a="http://schemas.openxmlformats.org/drawingml/2006/main"/>
        </p:blipFill>
        <p:spPr>
          <a:xfrm xmlns:a="http://schemas.openxmlformats.org/drawingml/2006/main">
            <a:off x="781050" y="742950"/>
            <a:ext cx="723900" cy="723900"/>
          </a:xfrm>
          <a:prstGeom xmlns:a="http://schemas.openxmlformats.org/drawingml/2006/main" prst="rect">
            <a:avLst/>
          </a:prstGeom>
        </p:spPr>
      </p:pic>
      <p:sp>
        <p:nvSpPr>
          <p:cNvPr id="2" name="landed.">
            <a:extLst xmlns:a="http://schemas.openxmlformats.org/drawingml/2006/main">
              <a:ext uri="{FF2B5EF4-FFF2-40B4-BE49-F238E27FC236}">
                <a16:creationId xmlns:a16="http://schemas.microsoft.com/office/drawing/2014/main" id="{F1D24101-1D9D-4C64-A09B-34E7D8A2D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43075"/>
            <a:ext cx="1047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0650" b="1">
                <a:solidFill>
                  <a:srgbClr val="191918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10650" b="1">
                <a:solidFill>
                  <a:srgbClr val="191918"/>
                </a:solidFill>
                <a:latin typeface="Avenir Next"/>
                <a:ea typeface="Avenir Next"/>
                <a:cs typeface="Avenir Next"/>
              </a:defRPr>
            </a:pPr>
            <a:r>
              <a:rPr sz="10650" b="1">
                <a:solidFill>
                  <a:srgbClr val="191918"/>
                </a:solidFill>
                <a:latin typeface="Avenir Next"/>
                <a:ea typeface="Avenir Next"/>
                <a:cs typeface="Avenir Next"/>
              </a:rPr>
              <a:t>landed.</a:t>
            </a:r>
          </a:p>
        </p:txBody>
      </p:sp>
      <p:sp>
        <p:nvSpPr>
          <p:cNvPr id="3" name="让创意协作按阶段落地">
            <a:extLst xmlns:a="http://schemas.openxmlformats.org/drawingml/2006/main">
              <a:ext uri="{FF2B5EF4-FFF2-40B4-BE49-F238E27FC236}">
                <a16:creationId xmlns:a16="http://schemas.microsoft.com/office/drawing/2014/main" id="{B48BE4FC-335F-4C77-9DD9-92E6E3FB4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14750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4125" b="1">
                <a:solidFill>
                  <a:srgbClr val="191918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4125" b="1">
                <a:solidFill>
                  <a:srgbClr val="19191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125" b="1">
                <a:solidFill>
                  <a:srgbClr val="191918"/>
                </a:solidFill>
                <a:latin typeface="Arial Unicode MS"/>
                <a:ea typeface="Arial Unicode MS"/>
                <a:cs typeface="Arial Unicode MS"/>
              </a:rPr>
              <a:t>让创意协作按阶段落地</a:t>
            </a:r>
          </a:p>
        </p:txBody>
      </p:sp>
      <p:sp>
        <p:nvSpPr>
          <p:cNvPr id="4" name="先锁定预算，再交付验收">
            <a:extLst xmlns:a="http://schemas.openxmlformats.org/drawingml/2006/main">
              <a:ext uri="{FF2B5EF4-FFF2-40B4-BE49-F238E27FC236}">
                <a16:creationId xmlns:a16="http://schemas.microsoft.com/office/drawing/2014/main" id="{013BB01B-9CC0-4D21-8E4C-34245F78B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67250"/>
            <a:ext cx="1009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550" b="0">
                <a:solidFill>
                  <a:srgbClr val="696965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69696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0">
                <a:solidFill>
                  <a:srgbClr val="696965"/>
                </a:solidFill>
                <a:latin typeface="Arial Unicode MS"/>
                <a:ea typeface="Arial Unicode MS"/>
                <a:cs typeface="Arial Unicode MS"/>
              </a:rPr>
              <a:t>先锁定预算，再交付验收</a:t>
            </a:r>
          </a:p>
        </p:txBody>
      </p:sp>
      <p:sp>
        <p:nvSpPr>
          <p:cNvPr id="5" name="Avalanche Buildathon 202">
            <a:extLst xmlns:a="http://schemas.openxmlformats.org/drawingml/2006/main">
              <a:ext uri="{FF2B5EF4-FFF2-40B4-BE49-F238E27FC236}">
                <a16:creationId xmlns:a16="http://schemas.microsoft.com/office/drawing/2014/main" id="{A9ABAEBC-8110-44C9-89DB-25E26256C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8170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696965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69696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696965"/>
                </a:solidFill>
                <a:latin typeface="Arial Unicode MS"/>
                <a:ea typeface="Arial Unicode MS"/>
                <a:cs typeface="Arial Unicode MS"/>
              </a:rPr>
              <a:t>Avalanche Buildathon 2026   消费应用与支付</a:t>
            </a:r>
          </a:p>
        </p:txBody>
      </p:sp>
    </p:spTree>
    <p:extLst>
      <p:ext uri="{BB962C8B-B14F-4D97-AF65-F5344CB8AC3E}">
        <p14:creationId xmlns:p14="http://schemas.microsoft.com/office/powerpoint/2010/main" val="106854433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5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陌生人合作，付款和交付很难同步">
            <a:extLst xmlns:a="http://schemas.openxmlformats.org/drawingml/2006/main">
              <a:ext uri="{FF2B5EF4-FFF2-40B4-BE49-F238E27FC236}">
                <a16:creationId xmlns:a16="http://schemas.microsoft.com/office/drawing/2014/main" id="{EE9E86CF-1885-4B88-98FC-ADEDAB9AA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9150"/>
            <a:ext cx="10668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900" b="1">
                <a:solidFill>
                  <a:srgbClr val="191918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3900" b="1">
                <a:solidFill>
                  <a:srgbClr val="19191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900" b="1">
                <a:solidFill>
                  <a:srgbClr val="191918"/>
                </a:solidFill>
                <a:latin typeface="Arial Unicode MS"/>
                <a:ea typeface="Arial Unicode MS"/>
                <a:cs typeface="Arial Unicode MS"/>
              </a:rPr>
              <a:t>陌生人合作，付款和交付很难同步</a:t>
            </a:r>
          </a:p>
        </p:txBody>
      </p:sp>
      <p:sp>
        <p:nvSpPr>
          <p:cNvPr id="2" name="需求方">
            <a:extLst xmlns:a="http://schemas.openxmlformats.org/drawingml/2006/main">
              <a:ext uri="{FF2B5EF4-FFF2-40B4-BE49-F238E27FC236}">
                <a16:creationId xmlns:a16="http://schemas.microsoft.com/office/drawing/2014/main" id="{2F4FFBFC-C170-4401-871F-53035C753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2415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FF6A00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FF6A0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FF6A00"/>
                </a:solidFill>
                <a:latin typeface="Arial Unicode MS"/>
                <a:ea typeface="Arial Unicode MS"/>
                <a:cs typeface="Arial Unicode MS"/>
              </a:rPr>
              <a:t>需求方</a:t>
            </a:r>
          </a:p>
        </p:txBody>
      </p:sp>
      <p:sp>
        <p:nvSpPr>
          <p:cNvPr id="3" name="先付全款，&#10;担心拿不到合适的作品">
            <a:extLst xmlns:a="http://schemas.openxmlformats.org/drawingml/2006/main">
              <a:ext uri="{FF2B5EF4-FFF2-40B4-BE49-F238E27FC236}">
                <a16:creationId xmlns:a16="http://schemas.microsoft.com/office/drawing/2014/main" id="{74E2AAAC-935A-4023-81F3-D3A268D72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52800"/>
            <a:ext cx="4762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925" b="1">
                <a:solidFill>
                  <a:srgbClr val="191918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2925" b="1">
                <a:solidFill>
                  <a:srgbClr val="19191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925" b="1">
                <a:solidFill>
                  <a:srgbClr val="191918"/>
                </a:solidFill>
                <a:latin typeface="Arial Unicode MS"/>
                <a:ea typeface="Arial Unicode MS"/>
                <a:cs typeface="Arial Unicode MS"/>
              </a:rPr>
              <a:t>先付全款，</a:t>
            </a:r>
          </a:p>
          <a:p xmlns:a="http://schemas.openxmlformats.org/drawingml/2006/main">
            <a:pPr>
              <a:defRPr sz="2925" b="1">
                <a:solidFill>
                  <a:srgbClr val="19191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925" b="1">
                <a:solidFill>
                  <a:srgbClr val="191918"/>
                </a:solidFill>
                <a:latin typeface="Arial Unicode MS"/>
                <a:ea typeface="Arial Unicode MS"/>
                <a:cs typeface="Arial Unicode MS"/>
              </a:rPr>
              <a:t>担心拿不到合适的作品</a:t>
            </a:r>
          </a:p>
        </p:txBody>
      </p:sp>
      <p:sp>
        <p:nvSpPr>
          <p:cNvPr id="4" name="创作者">
            <a:extLst xmlns:a="http://schemas.openxmlformats.org/drawingml/2006/main">
              <a:ext uri="{FF2B5EF4-FFF2-40B4-BE49-F238E27FC236}">
                <a16:creationId xmlns:a16="http://schemas.microsoft.com/office/drawing/2014/main" id="{70A2871C-45A7-4B12-819A-5FCDBC579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2415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1">
                <a:solidFill>
                  <a:srgbClr val="FF6A00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FF6A0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FF6A00"/>
                </a:solidFill>
                <a:latin typeface="Arial Unicode MS"/>
                <a:ea typeface="Arial Unicode MS"/>
                <a:cs typeface="Arial Unicode MS"/>
              </a:rPr>
              <a:t>创作者</a:t>
            </a:r>
          </a:p>
        </p:txBody>
      </p:sp>
      <p:sp>
        <p:nvSpPr>
          <p:cNvPr id="5" name="先做完，&#10;担心迟迟收不到报酬">
            <a:extLst xmlns:a="http://schemas.openxmlformats.org/drawingml/2006/main">
              <a:ext uri="{FF2B5EF4-FFF2-40B4-BE49-F238E27FC236}">
                <a16:creationId xmlns:a16="http://schemas.microsoft.com/office/drawing/2014/main" id="{189D8946-31C9-4687-B3C5-C5A71B15E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352800"/>
            <a:ext cx="4762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925" b="1">
                <a:solidFill>
                  <a:srgbClr val="191918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2925" b="1">
                <a:solidFill>
                  <a:srgbClr val="19191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925" b="1">
                <a:solidFill>
                  <a:srgbClr val="191918"/>
                </a:solidFill>
                <a:latin typeface="Arial Unicode MS"/>
                <a:ea typeface="Arial Unicode MS"/>
                <a:cs typeface="Arial Unicode MS"/>
              </a:rPr>
              <a:t>先做完，</a:t>
            </a:r>
          </a:p>
          <a:p xmlns:a="http://schemas.openxmlformats.org/drawingml/2006/main">
            <a:pPr>
              <a:defRPr sz="2925" b="1">
                <a:solidFill>
                  <a:srgbClr val="19191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925" b="1">
                <a:solidFill>
                  <a:srgbClr val="191918"/>
                </a:solidFill>
                <a:latin typeface="Arial Unicode MS"/>
                <a:ea typeface="Arial Unicode MS"/>
                <a:cs typeface="Arial Unicode MS"/>
              </a:rPr>
              <a:t>担心迟迟收不到报酬</a:t>
            </a:r>
          </a:p>
        </p:txBody>
      </p:sp>
      <p:sp>
        <p:nvSpPr>
          <p:cNvPr id="6" name="以音乐小样与成品的合作为例，先把每阶段交什么、付">
            <a:extLst xmlns:a="http://schemas.openxmlformats.org/drawingml/2006/main">
              <a:ext uri="{FF2B5EF4-FFF2-40B4-BE49-F238E27FC236}">
                <a16:creationId xmlns:a16="http://schemas.microsoft.com/office/drawing/2014/main" id="{486D8216-1532-4281-A09D-777ED8391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86425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696965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69696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696965"/>
                </a:solidFill>
                <a:latin typeface="Arial Unicode MS"/>
                <a:ea typeface="Arial Unicode MS"/>
                <a:cs typeface="Arial Unicode MS"/>
              </a:rPr>
              <a:t>以音乐小样与成品的合作为例，先把每阶段交什么、付多少说清楚。</a:t>
            </a:r>
          </a:p>
        </p:txBody>
      </p:sp>
    </p:spTree>
    <p:extLst>
      <p:ext uri="{BB962C8B-B14F-4D97-AF65-F5344CB8AC3E}">
        <p14:creationId xmlns:p14="http://schemas.microsoft.com/office/powerpoint/2010/main" val="51655837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919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一张订单，两次明确的交付与付款">
            <a:extLst xmlns:a="http://schemas.openxmlformats.org/drawingml/2006/main">
              <a:ext uri="{FF2B5EF4-FFF2-40B4-BE49-F238E27FC236}">
                <a16:creationId xmlns:a16="http://schemas.microsoft.com/office/drawing/2014/main" id="{F0A4B716-4352-4CF2-93DA-656D5B628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1066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750" b="1">
                <a:solidFill>
                  <a:srgbClr val="F5F5F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3750" b="1">
                <a:solidFill>
                  <a:srgbClr val="F5F5F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750" b="1">
                <a:solidFill>
                  <a:srgbClr val="F5F5F3"/>
                </a:solidFill>
                <a:latin typeface="Arial Unicode MS"/>
                <a:ea typeface="Arial Unicode MS"/>
                <a:cs typeface="Arial Unicode MS"/>
              </a:rPr>
              <a:t>一张订单，两次明确的交付与付款</a:t>
            </a:r>
          </a:p>
        </p:txBody>
      </p:sp>
      <p:sp>
        <p:nvSpPr>
          <p:cNvPr id="2" name="总预算 50 测试 USDC 先锁入合约">
            <a:extLst xmlns:a="http://schemas.openxmlformats.org/drawingml/2006/main">
              <a:ext uri="{FF2B5EF4-FFF2-40B4-BE49-F238E27FC236}">
                <a16:creationId xmlns:a16="http://schemas.microsoft.com/office/drawing/2014/main" id="{96FA8BCD-7DB6-446C-8269-C0E2147EE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0">
                <a:solidFill>
                  <a:srgbClr val="FFB178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FFB17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0">
                <a:solidFill>
                  <a:srgbClr val="FFB178"/>
                </a:solidFill>
                <a:latin typeface="Arial Unicode MS"/>
                <a:ea typeface="Arial Unicode MS"/>
                <a:cs typeface="Arial Unicode MS"/>
              </a:rPr>
              <a:t>总预算 50 测试 USDC 先锁入合约</a:t>
            </a:r>
          </a:p>
        </p:txBody>
      </p:sp>
      <p:sp>
        <p:nvSpPr>
          <p:cNvPr id="3" name="01  小样">
            <a:extLst xmlns:a="http://schemas.openxmlformats.org/drawingml/2006/main">
              <a:ext uri="{FF2B5EF4-FFF2-40B4-BE49-F238E27FC236}">
                <a16:creationId xmlns:a16="http://schemas.microsoft.com/office/drawing/2014/main" id="{71978D2A-6CE2-45D3-8540-D76C058E1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F5F5F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F5F5F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F5F5F3"/>
                </a:solidFill>
                <a:latin typeface="Arial Unicode MS"/>
                <a:ea typeface="Arial Unicode MS"/>
                <a:cs typeface="Arial Unicode MS"/>
              </a:rPr>
              <a:t>01  小样</a:t>
            </a:r>
          </a:p>
        </p:txBody>
      </p:sp>
      <p:sp>
        <p:nvSpPr>
          <p:cNvPr id="4" name="20">
            <a:extLst xmlns:a="http://schemas.openxmlformats.org/drawingml/2006/main">
              <a:ext uri="{FF2B5EF4-FFF2-40B4-BE49-F238E27FC236}">
                <a16:creationId xmlns:a16="http://schemas.microsoft.com/office/drawing/2014/main" id="{01933F36-B210-46F4-8486-9C64AF569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57600"/>
            <a:ext cx="314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7050" b="1">
                <a:solidFill>
                  <a:srgbClr val="FF6A00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7050" b="1">
                <a:solidFill>
                  <a:srgbClr val="FF6A00"/>
                </a:solidFill>
                <a:latin typeface="Avenir Next"/>
                <a:ea typeface="Avenir Next"/>
                <a:cs typeface="Avenir Next"/>
              </a:defRPr>
            </a:pPr>
            <a:r>
              <a:rPr sz="7050" b="1">
                <a:solidFill>
                  <a:srgbClr val="FF6A00"/>
                </a:solidFill>
                <a:latin typeface="Avenir Next"/>
                <a:ea typeface="Avenir Next"/>
                <a:cs typeface="Avenir Next"/>
              </a:rPr>
              <a:t>20</a:t>
            </a:r>
          </a:p>
        </p:txBody>
      </p:sp>
      <p:sp>
        <p:nvSpPr>
          <p:cNvPr id="5" name="测试 USDC">
            <a:extLst xmlns:a="http://schemas.openxmlformats.org/drawingml/2006/main">
              <a:ext uri="{FF2B5EF4-FFF2-40B4-BE49-F238E27FC236}">
                <a16:creationId xmlns:a16="http://schemas.microsoft.com/office/drawing/2014/main" id="{F35465EC-BC38-4CEA-9063-6AF494072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229100"/>
            <a:ext cx="276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B9B9B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B9B9B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B9B9B3"/>
                </a:solidFill>
                <a:latin typeface="Arial Unicode MS"/>
                <a:ea typeface="Arial Unicode MS"/>
                <a:cs typeface="Arial Unicode MS"/>
              </a:rPr>
              <a:t>测试 USDC</a:t>
            </a:r>
          </a:p>
        </p:txBody>
      </p:sp>
      <p:sp>
        <p:nvSpPr>
          <p:cNvPr id="6" name="确认方向后验收付款">
            <a:extLst xmlns:a="http://schemas.openxmlformats.org/drawingml/2006/main">
              <a:ext uri="{FF2B5EF4-FFF2-40B4-BE49-F238E27FC236}">
                <a16:creationId xmlns:a16="http://schemas.microsoft.com/office/drawing/2014/main" id="{E57D51EE-8E26-4EED-8CCB-45C4B82F7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95875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F5F5F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F5F5F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F5F5F3"/>
                </a:solidFill>
                <a:latin typeface="Arial Unicode MS"/>
                <a:ea typeface="Arial Unicode MS"/>
                <a:cs typeface="Arial Unicode MS"/>
              </a:rPr>
              <a:t>确认方向后验收付款</a:t>
            </a:r>
          </a:p>
        </p:txBody>
      </p:sp>
      <p:sp>
        <p:nvSpPr>
          <p:cNvPr id="7" name="02  成品">
            <a:extLst xmlns:a="http://schemas.openxmlformats.org/drawingml/2006/main">
              <a:ext uri="{FF2B5EF4-FFF2-40B4-BE49-F238E27FC236}">
                <a16:creationId xmlns:a16="http://schemas.microsoft.com/office/drawing/2014/main" id="{9A48D630-1BD3-4585-81D1-2C311B758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067050"/>
            <a:ext cx="447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F5F5F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F5F5F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F5F5F3"/>
                </a:solidFill>
                <a:latin typeface="Arial Unicode MS"/>
                <a:ea typeface="Arial Unicode MS"/>
                <a:cs typeface="Arial Unicode MS"/>
              </a:rPr>
              <a:t>02  成品</a:t>
            </a:r>
          </a:p>
        </p:txBody>
      </p:sp>
      <p:sp>
        <p:nvSpPr>
          <p:cNvPr id="8" name="30">
            <a:extLst xmlns:a="http://schemas.openxmlformats.org/drawingml/2006/main">
              <a:ext uri="{FF2B5EF4-FFF2-40B4-BE49-F238E27FC236}">
                <a16:creationId xmlns:a16="http://schemas.microsoft.com/office/drawing/2014/main" id="{4986F08A-F8EA-46C2-AB12-D61909068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657600"/>
            <a:ext cx="314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7050" b="1">
                <a:solidFill>
                  <a:srgbClr val="FF6A00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7050" b="1">
                <a:solidFill>
                  <a:srgbClr val="FF6A00"/>
                </a:solidFill>
                <a:latin typeface="Avenir Next"/>
                <a:ea typeface="Avenir Next"/>
                <a:cs typeface="Avenir Next"/>
              </a:defRPr>
            </a:pPr>
            <a:r>
              <a:rPr sz="7050" b="1">
                <a:solidFill>
                  <a:srgbClr val="FF6A00"/>
                </a:solidFill>
                <a:latin typeface="Avenir Next"/>
                <a:ea typeface="Avenir Next"/>
                <a:cs typeface="Avenir Next"/>
              </a:rPr>
              <a:t>30</a:t>
            </a:r>
          </a:p>
        </p:txBody>
      </p:sp>
      <p:sp>
        <p:nvSpPr>
          <p:cNvPr id="9" name="测试 USDC">
            <a:extLst xmlns:a="http://schemas.openxmlformats.org/drawingml/2006/main">
              <a:ext uri="{FF2B5EF4-FFF2-40B4-BE49-F238E27FC236}">
                <a16:creationId xmlns:a16="http://schemas.microsoft.com/office/drawing/2014/main" id="{AB78A7E1-3E46-4CB1-B50A-7F5A15892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229100"/>
            <a:ext cx="276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B9B9B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B9B9B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B9B9B3"/>
                </a:solidFill>
                <a:latin typeface="Arial Unicode MS"/>
                <a:ea typeface="Arial Unicode MS"/>
                <a:cs typeface="Arial Unicode MS"/>
              </a:rPr>
              <a:t>测试 USDC</a:t>
            </a:r>
          </a:p>
        </p:txBody>
      </p:sp>
      <p:sp>
        <p:nvSpPr>
          <p:cNvPr id="10" name="第一阶段完成后再交付">
            <a:extLst xmlns:a="http://schemas.openxmlformats.org/drawingml/2006/main">
              <a:ext uri="{FF2B5EF4-FFF2-40B4-BE49-F238E27FC236}">
                <a16:creationId xmlns:a16="http://schemas.microsoft.com/office/drawing/2014/main" id="{409D5A38-D18B-4BEA-A317-0563CB299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095875"/>
            <a:ext cx="4476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F5F5F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F5F5F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F5F5F3"/>
                </a:solidFill>
                <a:latin typeface="Arial Unicode MS"/>
                <a:ea typeface="Arial Unicode MS"/>
                <a:cs typeface="Arial Unicode MS"/>
              </a:rPr>
              <a:t>第一阶段完成后再交付</a:t>
            </a:r>
          </a:p>
        </p:txBody>
      </p:sp>
      <p:sp>
        <p:nvSpPr>
          <p:cNvPr id="11" name="交付就在对应阶段下方，交易确认后才进入待验收。">
            <a:extLst xmlns:a="http://schemas.openxmlformats.org/drawingml/2006/main">
              <a:ext uri="{FF2B5EF4-FFF2-40B4-BE49-F238E27FC236}">
                <a16:creationId xmlns:a16="http://schemas.microsoft.com/office/drawing/2014/main" id="{5396E971-09FB-4556-BF9A-5F33ED799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3885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B9B9B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B9B9B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B9B9B3"/>
                </a:solidFill>
                <a:latin typeface="Arial Unicode MS"/>
                <a:ea typeface="Arial Unicode MS"/>
                <a:cs typeface="Arial Unicode MS"/>
              </a:rPr>
              <a:t>交付就在对应阶段下方，交易确认后才进入待验收。</a:t>
            </a:r>
          </a:p>
        </p:txBody>
      </p:sp>
    </p:spTree>
    <p:extLst>
      <p:ext uri="{BB962C8B-B14F-4D97-AF65-F5344CB8AC3E}">
        <p14:creationId xmlns:p14="http://schemas.microsoft.com/office/powerpoint/2010/main" val="19978478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5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Avalanche 执行阶段托管规则">
            <a:extLst xmlns:a="http://schemas.openxmlformats.org/drawingml/2006/main">
              <a:ext uri="{FF2B5EF4-FFF2-40B4-BE49-F238E27FC236}">
                <a16:creationId xmlns:a16="http://schemas.microsoft.com/office/drawing/2014/main" id="{974879CB-A02E-4C22-A098-3B1D94132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900" b="1">
                <a:solidFill>
                  <a:srgbClr val="191918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3900" b="1">
                <a:solidFill>
                  <a:srgbClr val="19191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900" b="1">
                <a:solidFill>
                  <a:srgbClr val="191918"/>
                </a:solidFill>
                <a:latin typeface="Arial Unicode MS"/>
                <a:ea typeface="Arial Unicode MS"/>
                <a:cs typeface="Arial Unicode MS"/>
              </a:rPr>
              <a:t>Avalanche 执行阶段托管规则</a:t>
            </a:r>
          </a:p>
        </p:txBody>
      </p:sp>
      <p:sp>
        <p:nvSpPr>
          <p:cNvPr id="2" name="Fuji C-Chain">
            <a:extLst xmlns:a="http://schemas.openxmlformats.org/drawingml/2006/main">
              <a:ext uri="{FF2B5EF4-FFF2-40B4-BE49-F238E27FC236}">
                <a16:creationId xmlns:a16="http://schemas.microsoft.com/office/drawing/2014/main" id="{69F55749-15CC-4342-A6D8-7750A2F66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33625"/>
            <a:ext cx="476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91918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91918"/>
                </a:solidFill>
                <a:latin typeface="Avenir Next"/>
                <a:ea typeface="Avenir Next"/>
                <a:cs typeface="Avenir Next"/>
              </a:defRPr>
            </a:pPr>
            <a:r>
              <a:rPr sz="3225" b="1">
                <a:solidFill>
                  <a:srgbClr val="191918"/>
                </a:solidFill>
                <a:latin typeface="Avenir Next"/>
                <a:ea typeface="Avenir Next"/>
                <a:cs typeface="Avenir Next"/>
              </a:rPr>
              <a:t>Fuji C-Chain</a:t>
            </a:r>
          </a:p>
        </p:txBody>
      </p:sp>
      <p:sp>
        <p:nvSpPr>
          <p:cNvPr id="3" name="Chain ID 43113&#10;测试 AVAX 支">
            <a:extLst xmlns:a="http://schemas.openxmlformats.org/drawingml/2006/main">
              <a:ext uri="{FF2B5EF4-FFF2-40B4-BE49-F238E27FC236}">
                <a16:creationId xmlns:a16="http://schemas.microsoft.com/office/drawing/2014/main" id="{433A3538-9BC9-4A1A-A2C0-8844D99D9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71825"/>
            <a:ext cx="476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696965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69696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0">
                <a:solidFill>
                  <a:srgbClr val="696965"/>
                </a:solidFill>
                <a:latin typeface="Arial Unicode MS"/>
                <a:ea typeface="Arial Unicode MS"/>
                <a:cs typeface="Arial Unicode MS"/>
              </a:rPr>
              <a:t>Chain ID 43113</a:t>
            </a:r>
          </a:p>
          <a:p xmlns:a="http://schemas.openxmlformats.org/drawingml/2006/main">
            <a:pPr>
              <a:defRPr sz="2250" b="0">
                <a:solidFill>
                  <a:srgbClr val="69696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0">
                <a:solidFill>
                  <a:srgbClr val="696965"/>
                </a:solidFill>
                <a:latin typeface="Arial Unicode MS"/>
                <a:ea typeface="Arial Unicode MS"/>
                <a:cs typeface="Arial Unicode MS"/>
              </a:rPr>
              <a:t>测试 AVAX 支付 Gas</a:t>
            </a:r>
          </a:p>
        </p:txBody>
      </p:sp>
      <p:sp>
        <p:nvSpPr>
          <p:cNvPr id="4" name="Landed L1">
            <a:extLst xmlns:a="http://schemas.openxmlformats.org/drawingml/2006/main">
              <a:ext uri="{FF2B5EF4-FFF2-40B4-BE49-F238E27FC236}">
                <a16:creationId xmlns:a16="http://schemas.microsoft.com/office/drawing/2014/main" id="{5B171EE9-81B6-4FBE-AB06-5E1219011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33625"/>
            <a:ext cx="476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191918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91918"/>
                </a:solidFill>
                <a:latin typeface="Avenir Next"/>
                <a:ea typeface="Avenir Next"/>
                <a:cs typeface="Avenir Next"/>
              </a:defRPr>
            </a:pPr>
            <a:r>
              <a:rPr sz="3225" b="1">
                <a:solidFill>
                  <a:srgbClr val="191918"/>
                </a:solidFill>
                <a:latin typeface="Avenir Next"/>
                <a:ea typeface="Avenir Next"/>
                <a:cs typeface="Avenir Next"/>
              </a:rPr>
              <a:t>Landed L1</a:t>
            </a:r>
          </a:p>
        </p:txBody>
      </p:sp>
      <p:sp>
        <p:nvSpPr>
          <p:cNvPr id="5" name="Chain ID 11230&#10;测试 LUSD 支">
            <a:extLst xmlns:a="http://schemas.openxmlformats.org/drawingml/2006/main">
              <a:ext uri="{FF2B5EF4-FFF2-40B4-BE49-F238E27FC236}">
                <a16:creationId xmlns:a16="http://schemas.microsoft.com/office/drawing/2014/main" id="{E8EB8AEA-8D9D-4004-8420-4D1AB6CC9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171825"/>
            <a:ext cx="476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696965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69696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0">
                <a:solidFill>
                  <a:srgbClr val="696965"/>
                </a:solidFill>
                <a:latin typeface="Arial Unicode MS"/>
                <a:ea typeface="Arial Unicode MS"/>
                <a:cs typeface="Arial Unicode MS"/>
              </a:rPr>
              <a:t>Chain ID 11230</a:t>
            </a:r>
          </a:p>
          <a:p xmlns:a="http://schemas.openxmlformats.org/drawingml/2006/main">
            <a:pPr>
              <a:defRPr sz="2250" b="0">
                <a:solidFill>
                  <a:srgbClr val="69696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0">
                <a:solidFill>
                  <a:srgbClr val="696965"/>
                </a:solidFill>
                <a:latin typeface="Arial Unicode MS"/>
                <a:ea typeface="Arial Unicode MS"/>
                <a:cs typeface="Arial Unicode MS"/>
              </a:rPr>
              <a:t>测试 LUSD 支付 Gas</a:t>
            </a:r>
          </a:p>
        </p:txBody>
      </p:sp>
      <p:sp>
        <p:nvSpPr>
          <p:cNvPr id="6" name="两条链的余额、订单和合约彼此独立">
            <a:extLst xmlns:a="http://schemas.openxmlformats.org/drawingml/2006/main">
              <a:ext uri="{FF2B5EF4-FFF2-40B4-BE49-F238E27FC236}">
                <a16:creationId xmlns:a16="http://schemas.microsoft.com/office/drawing/2014/main" id="{DA1A6E0A-096E-445B-B36A-24E2584B9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850" b="1">
                <a:solidFill>
                  <a:srgbClr val="FF6A00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FF6A0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850" b="1">
                <a:solidFill>
                  <a:srgbClr val="FF6A00"/>
                </a:solidFill>
                <a:latin typeface="Arial Unicode MS"/>
                <a:ea typeface="Arial Unicode MS"/>
                <a:cs typeface="Arial Unicode MS"/>
              </a:rPr>
              <a:t>两条链的余额、订单和合约彼此独立</a:t>
            </a:r>
          </a:p>
        </p:txBody>
      </p:sp>
      <p:sp>
        <p:nvSpPr>
          <p:cNvPr id="7" name="已部署托管合约；按既有验收、超时领取和争议规则执">
            <a:extLst xmlns:a="http://schemas.openxmlformats.org/drawingml/2006/main">
              <a:ext uri="{FF2B5EF4-FFF2-40B4-BE49-F238E27FC236}">
                <a16:creationId xmlns:a16="http://schemas.microsoft.com/office/drawing/2014/main" id="{267A3624-0208-4C37-9EA8-4E493702C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34075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950" b="0">
                <a:solidFill>
                  <a:srgbClr val="696965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69696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950" b="0">
                <a:solidFill>
                  <a:srgbClr val="696965"/>
                </a:solidFill>
                <a:latin typeface="Arial Unicode MS"/>
                <a:ea typeface="Arial Unicode MS"/>
                <a:cs typeface="Arial Unicode MS"/>
              </a:rPr>
              <a:t>已部署托管合约；按既有验收、超时领取和争议规则执行。</a:t>
            </a:r>
          </a:p>
        </p:txBody>
      </p:sp>
    </p:spTree>
    <p:extLst>
      <p:ext uri="{BB962C8B-B14F-4D97-AF65-F5344CB8AC3E}">
        <p14:creationId xmlns:p14="http://schemas.microsoft.com/office/powerpoint/2010/main" val="56022666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919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现场演示：交付与验收在同一阶段">
            <a:extLst xmlns:a="http://schemas.openxmlformats.org/drawingml/2006/main">
              <a:ext uri="{FF2B5EF4-FFF2-40B4-BE49-F238E27FC236}">
                <a16:creationId xmlns:a16="http://schemas.microsoft.com/office/drawing/2014/main" id="{558EFB62-5436-4FF4-93BB-A166965F2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580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F5F5F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F5F5F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600" b="1">
                <a:solidFill>
                  <a:srgbClr val="F5F5F3"/>
                </a:solidFill>
                <a:latin typeface="Arial Unicode MS"/>
                <a:ea typeface="Arial Unicode MS"/>
                <a:cs typeface="Arial Unicode MS"/>
              </a:rPr>
              <a:t>现场演示：交付与验收在同一阶段</a:t>
            </a:r>
          </a:p>
        </p:txBody>
      </p:sp>
      <p:sp>
        <p:nvSpPr>
          <p:cNvPr id="2" name="需求方 iris&#10;接单人 小林">
            <a:extLst xmlns:a="http://schemas.openxmlformats.org/drawingml/2006/main">
              <a:ext uri="{FF2B5EF4-FFF2-40B4-BE49-F238E27FC236}">
                <a16:creationId xmlns:a16="http://schemas.microsoft.com/office/drawing/2014/main" id="{DF307510-75EF-443A-BEA6-BBF193BE6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66925"/>
            <a:ext cx="4000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F5F5F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F5F5F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1">
                <a:solidFill>
                  <a:srgbClr val="F5F5F3"/>
                </a:solidFill>
                <a:latin typeface="Arial Unicode MS"/>
                <a:ea typeface="Arial Unicode MS"/>
                <a:cs typeface="Arial Unicode MS"/>
              </a:rPr>
              <a:t>需求方 iris</a:t>
            </a:r>
          </a:p>
          <a:p xmlns:a="http://schemas.openxmlformats.org/drawingml/2006/main">
            <a:pPr>
              <a:defRPr sz="2475" b="1">
                <a:solidFill>
                  <a:srgbClr val="F5F5F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1">
                <a:solidFill>
                  <a:srgbClr val="F5F5F3"/>
                </a:solidFill>
                <a:latin typeface="Arial Unicode MS"/>
                <a:ea typeface="Arial Unicode MS"/>
                <a:cs typeface="Arial Unicode MS"/>
              </a:rPr>
              <a:t>接单人 小林</a:t>
            </a:r>
          </a:p>
        </p:txBody>
      </p:sp>
      <p:sp>
        <p:nvSpPr>
          <p:cNvPr id="3" name="查看已锁定的 50&#10;提交小样链接与说明&#10;验收释放">
            <a:extLst xmlns:a="http://schemas.openxmlformats.org/drawingml/2006/main">
              <a:ext uri="{FF2B5EF4-FFF2-40B4-BE49-F238E27FC236}">
                <a16:creationId xmlns:a16="http://schemas.microsoft.com/office/drawing/2014/main" id="{85E40392-F288-42BB-A7A0-376BDB116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447675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250" b="0">
                <a:solidFill>
                  <a:srgbClr val="B9B9B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B9B9B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0">
                <a:solidFill>
                  <a:srgbClr val="B9B9B3"/>
                </a:solidFill>
                <a:latin typeface="Arial Unicode MS"/>
                <a:ea typeface="Arial Unicode MS"/>
                <a:cs typeface="Arial Unicode MS"/>
              </a:rPr>
              <a:t>查看已锁定的 50</a:t>
            </a:r>
          </a:p>
          <a:p xmlns:a="http://schemas.openxmlformats.org/drawingml/2006/main">
            <a:pPr>
              <a:defRPr sz="2250" b="0">
                <a:solidFill>
                  <a:srgbClr val="B9B9B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0">
                <a:solidFill>
                  <a:srgbClr val="B9B9B3"/>
                </a:solidFill>
                <a:latin typeface="Arial Unicode MS"/>
                <a:ea typeface="Arial Unicode MS"/>
                <a:cs typeface="Arial Unicode MS"/>
              </a:rPr>
              <a:t>提交小样链接与说明</a:t>
            </a:r>
          </a:p>
          <a:p xmlns:a="http://schemas.openxmlformats.org/drawingml/2006/main">
            <a:pPr>
              <a:defRPr sz="2250" b="0">
                <a:solidFill>
                  <a:srgbClr val="B9B9B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0">
                <a:solidFill>
                  <a:srgbClr val="B9B9B3"/>
                </a:solidFill>
                <a:latin typeface="Arial Unicode MS"/>
                <a:ea typeface="Arial Unicode MS"/>
                <a:cs typeface="Arial Unicode MS"/>
              </a:rPr>
              <a:t>验收释放 20</a:t>
            </a:r>
          </a:p>
          <a:p xmlns:a="http://schemas.openxmlformats.org/drawingml/2006/main">
            <a:pPr>
              <a:defRPr sz="2250" b="0">
                <a:solidFill>
                  <a:srgbClr val="B9B9B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0">
                <a:solidFill>
                  <a:srgbClr val="B9B9B3"/>
                </a:solidFill>
                <a:latin typeface="Arial Unicode MS"/>
                <a:ea typeface="Arial Unicode MS"/>
                <a:cs typeface="Arial Unicode MS"/>
              </a:rPr>
              <a:t>继续成品阶段 30</a:t>
            </a:r>
          </a:p>
        </p:txBody>
      </p:sp>
      <p:sp>
        <p:nvSpPr>
          <p:cNvPr id="4" name="测试网演示，确认后才计为成功">
            <a:extLst xmlns:a="http://schemas.openxmlformats.org/drawingml/2006/main">
              <a:ext uri="{FF2B5EF4-FFF2-40B4-BE49-F238E27FC236}">
                <a16:creationId xmlns:a16="http://schemas.microsoft.com/office/drawing/2014/main" id="{337028D1-FD8C-4151-85BD-ED865E56F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48375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FFB178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FFB17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FFB178"/>
                </a:solidFill>
                <a:latin typeface="Arial Unicode MS"/>
                <a:ea typeface="Arial Unicode MS"/>
                <a:cs typeface="Arial Unicode MS"/>
              </a:rPr>
              <a:t>测试网演示，确认后才计为成功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2D3EA4-502F-42EE-A29A-1B68BCCE922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76e50655604ead"/>
          <a:stretch xmlns:a="http://schemas.openxmlformats.org/drawingml/2006/main"/>
        </p:blipFill>
        <p:spPr>
          <a:xfrm xmlns:a="http://schemas.openxmlformats.org/drawingml/2006/main">
            <a:off x="6565019" y="1714500"/>
            <a:ext cx="4110213" cy="4267200"/>
          </a:xfrm>
          <a:prstGeom xmlns:a="http://schemas.openxmlformats.org/drawingml/2006/main" prst="rect">
            <a:avLst/>
          </a:prstGeom>
        </p:spPr>
      </p:pic>
      <p:sp>
        <p:nvSpPr>
          <p:cNvPr id="6" name="界面示例：隔离测试截图">
            <a:extLst xmlns:a="http://schemas.openxmlformats.org/drawingml/2006/main">
              <a:ext uri="{FF2B5EF4-FFF2-40B4-BE49-F238E27FC236}">
                <a16:creationId xmlns:a16="http://schemas.microsoft.com/office/drawing/2014/main" id="{B4877211-ED25-4B52-BC21-B14154BD8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6143625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500" b="0">
                <a:solidFill>
                  <a:srgbClr val="B9B9B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B9B9B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B9B9B3"/>
                </a:solidFill>
                <a:latin typeface="Arial Unicode MS"/>
                <a:ea typeface="Arial Unicode MS"/>
                <a:cs typeface="Arial Unicode MS"/>
              </a:rPr>
              <a:t>界面示例：隔离测试截图</a:t>
            </a:r>
          </a:p>
        </p:txBody>
      </p:sp>
    </p:spTree>
    <p:extLst>
      <p:ext uri="{BB962C8B-B14F-4D97-AF65-F5344CB8AC3E}">
        <p14:creationId xmlns:p14="http://schemas.microsoft.com/office/powerpoint/2010/main" val="211298500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5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可核对的实现与验证">
            <a:extLst xmlns:a="http://schemas.openxmlformats.org/drawingml/2006/main">
              <a:ext uri="{FF2B5EF4-FFF2-40B4-BE49-F238E27FC236}">
                <a16:creationId xmlns:a16="http://schemas.microsoft.com/office/drawing/2014/main" id="{A4FE635E-8414-48BA-A93C-13BD0C7D3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900" b="1">
                <a:solidFill>
                  <a:srgbClr val="191918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3900" b="1">
                <a:solidFill>
                  <a:srgbClr val="19191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900" b="1">
                <a:solidFill>
                  <a:srgbClr val="191918"/>
                </a:solidFill>
                <a:latin typeface="Arial Unicode MS"/>
                <a:ea typeface="Arial Unicode MS"/>
                <a:cs typeface="Arial Unicode MS"/>
              </a:rPr>
              <a:t>可核对的实现与验证</a:t>
            </a:r>
          </a:p>
        </p:txBody>
      </p:sp>
      <p:sp>
        <p:nvSpPr>
          <p:cNvPr id="2" name="已上线">
            <a:extLst xmlns:a="http://schemas.openxmlformats.org/drawingml/2006/main">
              <a:ext uri="{FF2B5EF4-FFF2-40B4-BE49-F238E27FC236}">
                <a16:creationId xmlns:a16="http://schemas.microsoft.com/office/drawing/2014/main" id="{D0B6596F-0FCB-4AD4-A562-4D9580A31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3362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FF6A00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FF6A0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FF6A00"/>
                </a:solidFill>
                <a:latin typeface="Arial Unicode MS"/>
                <a:ea typeface="Arial Unicode MS"/>
                <a:cs typeface="Arial Unicode MS"/>
              </a:rPr>
              <a:t>已上线</a:t>
            </a:r>
          </a:p>
        </p:txBody>
      </p:sp>
      <p:sp>
        <p:nvSpPr>
          <p:cNvPr id="3" name="双链测试站与阶段内交付&#10;GitHub 源码、合约">
            <a:extLst xmlns:a="http://schemas.openxmlformats.org/drawingml/2006/main">
              <a:ext uri="{FF2B5EF4-FFF2-40B4-BE49-F238E27FC236}">
                <a16:creationId xmlns:a16="http://schemas.microsoft.com/office/drawing/2014/main" id="{1F152BE8-9907-40AE-809A-15B4CE176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333625"/>
            <a:ext cx="7143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91918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9191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191918"/>
                </a:solidFill>
                <a:latin typeface="Arial Unicode MS"/>
                <a:ea typeface="Arial Unicode MS"/>
                <a:cs typeface="Arial Unicode MS"/>
              </a:rPr>
              <a:t>双链测试站与阶段内交付</a:t>
            </a:r>
          </a:p>
          <a:p xmlns:a="http://schemas.openxmlformats.org/drawingml/2006/main">
            <a:pPr>
              <a:defRPr sz="2400" b="0">
                <a:solidFill>
                  <a:srgbClr val="19191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191918"/>
                </a:solidFill>
                <a:latin typeface="Arial Unicode MS"/>
                <a:ea typeface="Arial Unicode MS"/>
                <a:cs typeface="Arial Unicode MS"/>
              </a:rPr>
              <a:t>GitHub 源码、合约地址可查</a:t>
            </a:r>
          </a:p>
        </p:txBody>
      </p:sp>
      <p:sp>
        <p:nvSpPr>
          <p:cNvPr id="4" name="已通过">
            <a:extLst xmlns:a="http://schemas.openxmlformats.org/drawingml/2006/main">
              <a:ext uri="{FF2B5EF4-FFF2-40B4-BE49-F238E27FC236}">
                <a16:creationId xmlns:a16="http://schemas.microsoft.com/office/drawing/2014/main" id="{C0C32363-83DD-4B14-A96E-BD5021B7B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9570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FF6A00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FF6A0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325" b="1">
                <a:solidFill>
                  <a:srgbClr val="FF6A00"/>
                </a:solidFill>
                <a:latin typeface="Arial Unicode MS"/>
                <a:ea typeface="Arial Unicode MS"/>
                <a:cs typeface="Arial Unicode MS"/>
              </a:rPr>
              <a:t>已通过</a:t>
            </a:r>
          </a:p>
        </p:txBody>
      </p:sp>
      <p:sp>
        <p:nvSpPr>
          <p:cNvPr id="5" name="7 项合约测试&#10;20＋30 双角色隔离浏览器回归">
            <a:extLst xmlns:a="http://schemas.openxmlformats.org/drawingml/2006/main">
              <a:ext uri="{FF2B5EF4-FFF2-40B4-BE49-F238E27FC236}">
                <a16:creationId xmlns:a16="http://schemas.microsoft.com/office/drawing/2014/main" id="{12DE0594-D571-468C-A984-A47150D7E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95700"/>
            <a:ext cx="7143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191918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9191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191918"/>
                </a:solidFill>
                <a:latin typeface="Arial Unicode MS"/>
                <a:ea typeface="Arial Unicode MS"/>
                <a:cs typeface="Arial Unicode MS"/>
              </a:rPr>
              <a:t>7 项合约测试</a:t>
            </a:r>
          </a:p>
          <a:p xmlns:a="http://schemas.openxmlformats.org/drawingml/2006/main">
            <a:pPr>
              <a:defRPr sz="2400" b="0">
                <a:solidFill>
                  <a:srgbClr val="19191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191918"/>
                </a:solidFill>
                <a:latin typeface="Arial Unicode MS"/>
                <a:ea typeface="Arial Unicode MS"/>
                <a:cs typeface="Arial Unicode MS"/>
              </a:rPr>
              <a:t>20＋30 双角色隔离浏览器回归</a:t>
            </a:r>
          </a:p>
        </p:txBody>
      </p:sp>
      <p:sp>
        <p:nvSpPr>
          <p:cNvPr id="6" name="验证边界">
            <a:extLst xmlns:a="http://schemas.openxmlformats.org/drawingml/2006/main">
              <a:ext uri="{FF2B5EF4-FFF2-40B4-BE49-F238E27FC236}">
                <a16:creationId xmlns:a16="http://schemas.microsoft.com/office/drawing/2014/main" id="{8E93A2F0-E2E5-49E5-9E12-32443CF4B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4350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696965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69696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696965"/>
                </a:solidFill>
                <a:latin typeface="Arial Unicode MS"/>
                <a:ea typeface="Arial Unicode MS"/>
                <a:cs typeface="Arial Unicode MS"/>
              </a:rPr>
              <a:t>验证边界</a:t>
            </a:r>
          </a:p>
        </p:txBody>
      </p:sp>
      <p:sp>
        <p:nvSpPr>
          <p:cNvPr id="7" name="公开站已验证双链读取&#10;真实钱包签名仍需演示前预演">
            <a:extLst xmlns:a="http://schemas.openxmlformats.org/drawingml/2006/main">
              <a:ext uri="{FF2B5EF4-FFF2-40B4-BE49-F238E27FC236}">
                <a16:creationId xmlns:a16="http://schemas.microsoft.com/office/drawing/2014/main" id="{2EA9716F-CB21-4521-BD4E-0219546EA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143500"/>
            <a:ext cx="714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175" b="0">
                <a:solidFill>
                  <a:srgbClr val="696965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69696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696965"/>
                </a:solidFill>
                <a:latin typeface="Arial Unicode MS"/>
                <a:ea typeface="Arial Unicode MS"/>
                <a:cs typeface="Arial Unicode MS"/>
              </a:rPr>
              <a:t>公开站已验证双链读取</a:t>
            </a:r>
          </a:p>
          <a:p xmlns:a="http://schemas.openxmlformats.org/drawingml/2006/main">
            <a:pPr>
              <a:defRPr sz="2175" b="0">
                <a:solidFill>
                  <a:srgbClr val="696965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696965"/>
                </a:solidFill>
                <a:latin typeface="Arial Unicode MS"/>
                <a:ea typeface="Arial Unicode MS"/>
                <a:cs typeface="Arial Unicode MS"/>
              </a:rPr>
              <a:t>真实钱包签名仍需演示前预演</a:t>
            </a:r>
          </a:p>
        </p:txBody>
      </p:sp>
    </p:spTree>
    <p:extLst>
      <p:ext uri="{BB962C8B-B14F-4D97-AF65-F5344CB8AC3E}">
        <p14:creationId xmlns:p14="http://schemas.microsoft.com/office/powerpoint/2010/main" val="95989985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919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下一步，让创作者更容易完成合作">
            <a:extLst xmlns:a="http://schemas.openxmlformats.org/drawingml/2006/main">
              <a:ext uri="{FF2B5EF4-FFF2-40B4-BE49-F238E27FC236}">
                <a16:creationId xmlns:a16="http://schemas.microsoft.com/office/drawing/2014/main" id="{5D4920EF-525A-4640-A290-EA5C83DF6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2000"/>
            <a:ext cx="10668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3750" b="1">
                <a:solidFill>
                  <a:srgbClr val="F5F5F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3750" b="1">
                <a:solidFill>
                  <a:srgbClr val="F5F5F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750" b="1">
                <a:solidFill>
                  <a:srgbClr val="F5F5F3"/>
                </a:solidFill>
                <a:latin typeface="Arial Unicode MS"/>
                <a:ea typeface="Arial Unicode MS"/>
                <a:cs typeface="Arial Unicode MS"/>
              </a:rPr>
              <a:t>下一步，让创作者更容易完成合作</a:t>
            </a:r>
          </a:p>
        </p:txBody>
      </p:sp>
      <p:sp>
        <p:nvSpPr>
          <p:cNvPr id="2" name="真实文件上传与版本反馈&#10;订单内私密沟通&#10;受控测试">
            <a:extLst xmlns:a="http://schemas.openxmlformats.org/drawingml/2006/main">
              <a:ext uri="{FF2B5EF4-FFF2-40B4-BE49-F238E27FC236}">
                <a16:creationId xmlns:a16="http://schemas.microsoft.com/office/drawing/2014/main" id="{6378EB6D-5668-43E9-8861-2059DE8E4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57475"/>
            <a:ext cx="10477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775" b="0">
                <a:solidFill>
                  <a:srgbClr val="F5F5F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2775" b="0">
                <a:solidFill>
                  <a:srgbClr val="F5F5F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75" b="0">
                <a:solidFill>
                  <a:srgbClr val="F5F5F3"/>
                </a:solidFill>
                <a:latin typeface="Arial Unicode MS"/>
                <a:ea typeface="Arial Unicode MS"/>
                <a:cs typeface="Arial Unicode MS"/>
              </a:rPr>
              <a:t>真实文件上传与版本反馈</a:t>
            </a:r>
          </a:p>
          <a:p xmlns:a="http://schemas.openxmlformats.org/drawingml/2006/main">
            <a:pPr>
              <a:defRPr sz="2775" b="0">
                <a:solidFill>
                  <a:srgbClr val="F5F5F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75" b="0">
                <a:solidFill>
                  <a:srgbClr val="F5F5F3"/>
                </a:solidFill>
                <a:latin typeface="Arial Unicode MS"/>
                <a:ea typeface="Arial Unicode MS"/>
                <a:cs typeface="Arial Unicode MS"/>
              </a:rPr>
              <a:t>订单内私密沟通</a:t>
            </a:r>
          </a:p>
          <a:p xmlns:a="http://schemas.openxmlformats.org/drawingml/2006/main">
            <a:pPr>
              <a:defRPr sz="2775" b="0">
                <a:solidFill>
                  <a:srgbClr val="F5F5F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75" b="0">
                <a:solidFill>
                  <a:srgbClr val="F5F5F3"/>
                </a:solidFill>
                <a:latin typeface="Arial Unicode MS"/>
                <a:ea typeface="Arial Unicode MS"/>
                <a:cs typeface="Arial Unicode MS"/>
              </a:rPr>
              <a:t>受控测试 Gas 补助</a:t>
            </a:r>
          </a:p>
        </p:txBody>
      </p:sp>
      <p:sp>
        <p:nvSpPr>
          <p:cNvPr id="3" name="以上为后续计划，当前未上线">
            <a:extLst xmlns:a="http://schemas.openxmlformats.org/drawingml/2006/main">
              <a:ext uri="{FF2B5EF4-FFF2-40B4-BE49-F238E27FC236}">
                <a16:creationId xmlns:a16="http://schemas.microsoft.com/office/drawing/2014/main" id="{1568AC9E-E949-4653-B82D-8BD80449F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67250"/>
            <a:ext cx="10477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FFB178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FFB17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0">
                <a:solidFill>
                  <a:srgbClr val="FFB178"/>
                </a:solidFill>
                <a:latin typeface="Arial Unicode MS"/>
                <a:ea typeface="Arial Unicode MS"/>
                <a:cs typeface="Arial Unicode MS"/>
              </a:rPr>
              <a:t>以上为后续计划，当前未上线</a:t>
            </a:r>
          </a:p>
        </p:txBody>
      </p:sp>
      <p:sp>
        <p:nvSpPr>
          <p:cNvPr id="4" name="仅测试演示。真实支付须先完成目标市场法律与支付准">
            <a:extLst xmlns:a="http://schemas.openxmlformats.org/drawingml/2006/main">
              <a:ext uri="{FF2B5EF4-FFF2-40B4-BE49-F238E27FC236}">
                <a16:creationId xmlns:a16="http://schemas.microsoft.com/office/drawing/2014/main" id="{C514D586-5099-4886-BA2E-E45AF73FE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7210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B9B9B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B9B9B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B9B9B3"/>
                </a:solidFill>
                <a:latin typeface="Arial Unicode MS"/>
                <a:ea typeface="Arial Unicode MS"/>
                <a:cs typeface="Arial Unicode MS"/>
              </a:rPr>
              <a:t>仅测试演示。真实支付须先完成目标市场法律与支付准入评估。</a:t>
            </a:r>
          </a:p>
        </p:txBody>
      </p:sp>
      <p:sp>
        <p:nvSpPr>
          <p:cNvPr id="5" name="minusplus2025.github.io/">
            <a:extLst xmlns:a="http://schemas.openxmlformats.org/drawingml/2006/main">
              <a:ext uri="{FF2B5EF4-FFF2-40B4-BE49-F238E27FC236}">
                <a16:creationId xmlns:a16="http://schemas.microsoft.com/office/drawing/2014/main" id="{833AA7E1-F01E-483E-BE95-3D850A34F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53150"/>
            <a:ext cx="5238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F5F5F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F5F5F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1">
                <a:solidFill>
                  <a:srgbClr val="F5F5F3"/>
                </a:solidFill>
                <a:latin typeface="Arial Unicode MS"/>
                <a:ea typeface="Arial Unicode MS"/>
                <a:cs typeface="Arial Unicode MS"/>
              </a:rPr>
              <a:t>minusplus2025.github.io/landed</a:t>
            </a:r>
          </a:p>
        </p:txBody>
      </p:sp>
      <p:sp>
        <p:nvSpPr>
          <p:cNvPr id="6" name="github.com/MinusPlus2025">
            <a:extLst xmlns:a="http://schemas.openxmlformats.org/drawingml/2006/main">
              <a:ext uri="{FF2B5EF4-FFF2-40B4-BE49-F238E27FC236}">
                <a16:creationId xmlns:a16="http://schemas.microsoft.com/office/drawing/2014/main" id="{685F4C6D-D8A5-4D16-A18E-2D57AFA4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153150"/>
            <a:ext cx="5143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F5F5F3"/>
                </a:solidFill>
                <a:latin typeface="Avenir Next"/>
                <a:ea typeface="Avenir Next"/>
                <a:cs typeface="Avenir Next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F5F5F3"/>
                </a:solidFill>
                <a:latin typeface="Avenir Next"/>
                <a:ea typeface="Avenir Next"/>
                <a:cs typeface="Avenir Next"/>
              </a:defRPr>
            </a:pPr>
            <a:r>
              <a:rPr sz="1725" b="0">
                <a:solidFill>
                  <a:srgbClr val="F5F5F3"/>
                </a:solidFill>
                <a:latin typeface="Avenir Next"/>
                <a:ea typeface="Avenir Next"/>
                <a:cs typeface="Avenir Next"/>
              </a:rPr>
              <a:t>github.com/MinusPlus2025/landed</a:t>
            </a:r>
          </a:p>
        </p:txBody>
      </p:sp>
    </p:spTree>
    <p:extLst>
      <p:ext uri="{BB962C8B-B14F-4D97-AF65-F5344CB8AC3E}">
        <p14:creationId xmlns:p14="http://schemas.microsoft.com/office/powerpoint/2010/main" val="885576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2026-10-15T04:02:50.3170000Z</dcterms:created>
  <dcterms:modified xsi:type="dcterms:W3CDTF">2026-10-15T04:02:50.3170000Z</dcterms:modified>
</coreProperties>
</file>